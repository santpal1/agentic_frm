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27432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66360" y="27432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0" y="27432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27432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27432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27432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27432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32520" y="27432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078992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1078992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1078992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078992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1078992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1078992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078992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32520" y="1078992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883664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1883664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1883664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1883664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883664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883664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883664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32520" y="1883664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688336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2688336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2688336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2688336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2688336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0" y="2688336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2688336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2520" y="2688336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3493008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3493008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3493008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5080" y="3493008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49440" y="3493008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43800" y="3493008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3493008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32520" y="3493008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0" y="429768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66360" y="429768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60720" y="429768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55080" y="429768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49440" y="429768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43800" y="429768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38160" y="429768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32520" y="4297680"/>
            <a:ext cx="54864" cy="54864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1371600" cy="137160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365760" y="2560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Fraud Risk</a:t>
            </a:r>
            <a:endParaRPr lang="en-US" sz="3800" dirty="0"/>
          </a:p>
        </p:txBody>
      </p:sp>
      <p:sp>
        <p:nvSpPr>
          <p:cNvPr id="53" name="Text 50"/>
          <p:cNvSpPr/>
          <p:nvPr/>
        </p:nvSpPr>
        <p:spPr>
          <a:xfrm>
            <a:off x="365760" y="32004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800" dirty="0"/>
          </a:p>
        </p:txBody>
      </p:sp>
      <p:sp>
        <p:nvSpPr>
          <p:cNvPr id="54" name="Text 51"/>
          <p:cNvSpPr/>
          <p:nvPr/>
        </p:nvSpPr>
        <p:spPr>
          <a:xfrm>
            <a:off x="365760" y="3931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Workflow  ·  Updated Architecture with Stage 1→2 Context Passing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6400800" y="13716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1A3A6B"/>
          </a:solidFill>
          <a:ln w="1905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6400800" y="15361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0.88</a:t>
            </a:r>
            <a:endParaRPr lang="en-US" sz="1700" dirty="0"/>
          </a:p>
        </p:txBody>
      </p:sp>
      <p:sp>
        <p:nvSpPr>
          <p:cNvPr id="57" name="Text 54"/>
          <p:cNvSpPr/>
          <p:nvPr/>
        </p:nvSpPr>
        <p:spPr>
          <a:xfrm>
            <a:off x="6400800" y="1965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7818120" y="13716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1A3A6B"/>
          </a:solidFill>
          <a:ln w="1905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7818120" y="15361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Tools</a:t>
            </a:r>
            <a:endParaRPr lang="en-US" sz="1700" dirty="0"/>
          </a:p>
        </p:txBody>
      </p:sp>
      <p:sp>
        <p:nvSpPr>
          <p:cNvPr id="60" name="Text 57"/>
          <p:cNvSpPr/>
          <p:nvPr/>
        </p:nvSpPr>
        <p:spPr>
          <a:xfrm>
            <a:off x="7818120" y="1965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Agent Bridge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6400800" y="27432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1A3A6B"/>
          </a:solidFill>
          <a:ln w="1905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2" name="Text 59"/>
          <p:cNvSpPr/>
          <p:nvPr/>
        </p:nvSpPr>
        <p:spPr>
          <a:xfrm>
            <a:off x="6400800" y="29077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Stages</a:t>
            </a:r>
            <a:endParaRPr lang="en-US" sz="1700" dirty="0"/>
          </a:p>
        </p:txBody>
      </p:sp>
      <p:sp>
        <p:nvSpPr>
          <p:cNvPr id="63" name="Text 60"/>
          <p:cNvSpPr/>
          <p:nvPr/>
        </p:nvSpPr>
        <p:spPr>
          <a:xfrm>
            <a:off x="6400800" y="3337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Gate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7818120" y="27432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1A3A6B"/>
          </a:solidFill>
          <a:ln w="1905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7818120" y="29077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Bands</a:t>
            </a:r>
            <a:endParaRPr lang="en-US" sz="1700" dirty="0"/>
          </a:p>
        </p:txBody>
      </p:sp>
      <p:sp>
        <p:nvSpPr>
          <p:cNvPr id="66" name="Text 63"/>
          <p:cNvSpPr/>
          <p:nvPr/>
        </p:nvSpPr>
        <p:spPr>
          <a:xfrm>
            <a:off x="7818120" y="3337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5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PayU  ·  Fraud Risk Management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from raw transaction to feedback loop — with Stage 1 context now carried forward into Stage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325880" cy="2468880"/>
          </a:xfrm>
          <a:prstGeom prst="roundRect">
            <a:avLst>
              <a:gd name="adj" fmla="val 6897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6128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52704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13055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27706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signals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655064" y="2286000"/>
            <a:ext cx="109728" cy="0"/>
          </a:xfrm>
          <a:prstGeom prst="line">
            <a:avLst/>
          </a:prstGeom>
          <a:noFill/>
          <a:ln w="19050">
            <a:solidFill>
              <a:srgbClr val="7B93A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709928" y="1051560"/>
            <a:ext cx="1325880" cy="2468880"/>
          </a:xfrm>
          <a:prstGeom prst="roundRect">
            <a:avLst>
              <a:gd name="adj" fmla="val 6897"/>
            </a:avLst>
          </a:prstGeom>
          <a:solidFill>
            <a:srgbClr val="1E5FAB"/>
          </a:solidFill>
          <a:ln w="12700">
            <a:solidFill>
              <a:srgbClr val="1E5F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709928" y="116128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836" y="152704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09928" y="213055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709928" y="27706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zero 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ML score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044952" y="2286000"/>
            <a:ext cx="109728" cy="0"/>
          </a:xfrm>
          <a:prstGeom prst="line">
            <a:avLst/>
          </a:prstGeom>
          <a:noFill/>
          <a:ln w="19050">
            <a:solidFill>
              <a:srgbClr val="7B93A8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099816" y="1051560"/>
            <a:ext cx="1325880" cy="2468880"/>
          </a:xfrm>
          <a:prstGeom prst="roundRect">
            <a:avLst>
              <a:gd name="adj" fmla="val 6897"/>
            </a:avLst>
          </a:prstGeom>
          <a:solidFill>
            <a:srgbClr val="0072A3"/>
          </a:solidFill>
          <a:ln w="12700">
            <a:solidFill>
              <a:srgbClr val="0072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099816" y="116128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724" y="152704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99816" y="213055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099816" y="27706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XGBoost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SHAP + rules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434840" y="2286000"/>
            <a:ext cx="109728" cy="0"/>
          </a:xfrm>
          <a:prstGeom prst="line">
            <a:avLst/>
          </a:prstGeom>
          <a:noFill/>
          <a:ln w="19050">
            <a:solidFill>
              <a:srgbClr val="7B93A8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4489704" y="1051560"/>
            <a:ext cx="1325880" cy="2468880"/>
          </a:xfrm>
          <a:prstGeom prst="roundRect">
            <a:avLst>
              <a:gd name="adj" fmla="val 6897"/>
            </a:avLst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489704" y="116128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612" y="1527048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489704" y="213055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489704" y="27706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4-band routing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LOW→CRITICAL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824728" y="2286000"/>
            <a:ext cx="109728" cy="0"/>
          </a:xfrm>
          <a:prstGeom prst="line">
            <a:avLst/>
          </a:prstGeom>
          <a:noFill/>
          <a:ln w="19050">
            <a:solidFill>
              <a:srgbClr val="7B93A8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5879592" y="1051560"/>
            <a:ext cx="1325880" cy="2468880"/>
          </a:xfrm>
          <a:prstGeom prst="roundRect">
            <a:avLst>
              <a:gd name="adj" fmla="val 6897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5879592" y="116128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527048"/>
            <a:ext cx="512064" cy="51206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879592" y="213055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879592" y="27706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probe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7214616" y="2286000"/>
            <a:ext cx="109728" cy="0"/>
          </a:xfrm>
          <a:prstGeom prst="line">
            <a:avLst/>
          </a:prstGeom>
          <a:noFill/>
          <a:ln w="19050">
            <a:solidFill>
              <a:srgbClr val="7B93A8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7269480" y="1051560"/>
            <a:ext cx="1325880" cy="2468880"/>
          </a:xfrm>
          <a:prstGeom prst="roundRect">
            <a:avLst>
              <a:gd name="adj" fmla="val 6897"/>
            </a:avLst>
          </a:prstGeom>
          <a:solidFill>
            <a:srgbClr val="2A8A60"/>
          </a:solidFill>
          <a:ln w="12700">
            <a:solidFill>
              <a:srgbClr val="2A8A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7269480" y="116128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388" y="1527048"/>
            <a:ext cx="512064" cy="51206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269480" y="213055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7269480" y="27706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+ tune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301752" y="3703320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FF3CD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384048" y="3749040"/>
            <a:ext cx="3913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NEW: Stage 1 context (flags, score, rules) now passed directly to Stage 2 — avoids re-computation and improves accuracy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4526280" y="3703320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E8F5E9"/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617720" y="3749040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Zero-DB Stage 1 triage gate ensures sub-millisecond CLEARED decisions · 13 MCP tools for Stage 2 agent investigation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34440" cy="292608"/>
          </a:xfrm>
          <a:prstGeom prst="roundRect">
            <a:avLst>
              <a:gd name="adj" fmla="val 37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Feature 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payload → 56 engineered signals for ML scoring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PAYLOAD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926080" cy="2880360"/>
          </a:xfrm>
          <a:prstGeom prst="roundRect">
            <a:avLst>
              <a:gd name="adj" fmla="val 3175"/>
            </a:avLst>
          </a:prstGeom>
          <a:solidFill>
            <a:srgbClr val="1E3A5F"/>
          </a:solidFill>
          <a:ln w="12700">
            <a:solidFill>
              <a:srgbClr val="2A5A8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767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19202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(INR)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235000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0720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6112" y="277977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3697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6112" y="320954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6674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96112" y="363931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96512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96112" y="406908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Channel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3383280" y="3154680"/>
            <a:ext cx="640080" cy="0"/>
          </a:xfrm>
          <a:prstGeom prst="line">
            <a:avLst/>
          </a:prstGeom>
          <a:noFill/>
          <a:ln w="31750">
            <a:solidFill>
              <a:srgbClr val="0096C7"/>
            </a:solidFill>
            <a:prstDash val="solid"/>
            <a:tailEnd type="triangle"/>
          </a:ln>
        </p:spPr>
      </p:sp>
      <p:sp>
        <p:nvSpPr>
          <p:cNvPr id="21" name="Text 13"/>
          <p:cNvSpPr/>
          <p:nvPr/>
        </p:nvSpPr>
        <p:spPr>
          <a:xfrm>
            <a:off x="3337560" y="3291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700" dirty="0"/>
          </a:p>
        </p:txBody>
      </p:sp>
      <p:sp>
        <p:nvSpPr>
          <p:cNvPr id="22" name="Text 14"/>
          <p:cNvSpPr/>
          <p:nvPr/>
        </p:nvSpPr>
        <p:spPr>
          <a:xfrm>
            <a:off x="4160520" y="15727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ENGINEERED FEATURES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4160520" y="1883664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1A4A7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4270248" y="1938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Metrics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270248" y="2258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5min / 1hr / 24hr tx windows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4160520" y="2798064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12416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4270248" y="28529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Signals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270248" y="3172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per device, reuse patterns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160520" y="3712464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0D3A5C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270248" y="3767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Linkage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4270248" y="4087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sharing email / domain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6492240" y="1883664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0A324F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601968" y="1938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Risk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601968" y="2258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rate, geo mismatch flags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6492240" y="2798064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073042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601968" y="28529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Fraud Flags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6601968" y="3172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3DS fail, DC IP, disposable email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6492240" y="3712464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052535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6601968" y="3767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Attrs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601968" y="4087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channel, BIN, auth type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34440" cy="292608"/>
          </a:xfrm>
          <a:prstGeom prst="roundRect">
            <a:avLst>
              <a:gd name="adj" fmla="val 37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 ·  NEW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Triage Gate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Zero-DB, sub-millisecond decision: CLEARED or FLAGGED — with structured context for Stage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190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STAGE 1 WORKS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0848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ML (XGBoost) — no DB calls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5146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12 binary fraud flags on raw payload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9443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rule engine to calibrated probability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37413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via weighted triage formula (÷ 206)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80390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CLEARED or FLAGGED with triage 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42336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stage_1_context JSON block with: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flags_fired, rules_fired, triage_score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suggested_tools, next_step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572768"/>
            <a:ext cx="4343400" cy="1463040"/>
          </a:xfrm>
          <a:prstGeom prst="roundRect">
            <a:avLst>
              <a:gd name="adj" fmla="val 6250"/>
            </a:avLst>
          </a:prstGeom>
          <a:solidFill>
            <a:srgbClr val="0C3320"/>
          </a:solidFill>
          <a:ln w="19050">
            <a:solidFill>
              <a:srgbClr val="2DC653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691640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66360" y="16916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63440" y="208483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0.25 threshold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update_case_status('accept') only. No Stage 2. No DB queries needed.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80560" y="3218688"/>
            <a:ext cx="4343400" cy="1508760"/>
          </a:xfrm>
          <a:prstGeom prst="roundRect">
            <a:avLst>
              <a:gd name="adj" fmla="val 6061"/>
            </a:avLst>
          </a:prstGeom>
          <a:solidFill>
            <a:srgbClr val="3A0A10"/>
          </a:solidFill>
          <a:ln w="19050">
            <a:solidFill>
              <a:srgbClr val="E63946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337560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66360" y="33375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663440" y="373075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0.25 threshold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stage_1_context to Stage 2. Includes suggested_tools ordering so Stage 2 knows where to focus without re-computing flags.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647688" y="3035808"/>
            <a:ext cx="0" cy="182880"/>
          </a:xfrm>
          <a:prstGeom prst="line">
            <a:avLst/>
          </a:prstGeom>
          <a:noFill/>
          <a:ln w="19050">
            <a:solidFill>
              <a:srgbClr val="7B93A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→ Stage 2 Context Passing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67512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CHANGE FROM PREVIOUS VERSION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926080" y="667512"/>
            <a:ext cx="5852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now receives a structured JSON context block from Stage 1, avoiding redundant flag computation and enabling smarter tool routing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834640" cy="3749040"/>
          </a:xfrm>
          <a:prstGeom prst="roundRect">
            <a:avLst>
              <a:gd name="adj" fmla="val 3226"/>
            </a:avLst>
          </a:prstGeom>
          <a:solidFill>
            <a:srgbClr val="1A3A6B"/>
          </a:solidFill>
          <a:ln w="1905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1556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flag_transaction()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(no DB)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854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binary flags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 engine overlay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0449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Triage score ÷ 206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Merchant recurrence DB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904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Outcome: CLEARED / FLAGGED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051560"/>
            <a:ext cx="3017520" cy="3749040"/>
          </a:xfrm>
          <a:prstGeom prst="roundRect">
            <a:avLst>
              <a:gd name="adj" fmla="val 3030"/>
            </a:avLst>
          </a:prstGeom>
          <a:solidFill>
            <a:srgbClr val="1A1A2E"/>
          </a:solidFill>
          <a:ln w="1905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11155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stage_1_context { 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1536192"/>
            <a:ext cx="288950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"transaction_id": "TX-0087",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"FLAGGED",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"triage_score": 0.6823,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"flags_fired": [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"f_triple_country_mismatch",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"f_disposable_email"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"rules_fired": [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"disposable_plus_3ds_fail",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"foreign_ip_no_auth"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"suggested_tools": [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"score_transaction",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"get_ip_intelligence",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"get_customer_profile"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"next_step": "score_transaction"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37960" y="1051560"/>
            <a:ext cx="2286000" cy="3749040"/>
          </a:xfrm>
          <a:prstGeom prst="roundRect">
            <a:avLst>
              <a:gd name="adj" fmla="val 4000"/>
            </a:avLst>
          </a:prstGeom>
          <a:solidFill>
            <a:srgbClr val="0A3D2E"/>
          </a:solidFill>
          <a:ln w="1905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11155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score_transaction()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01968" y="1755648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Skips flag re-computation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01968" y="2340864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Uses pre-fired rules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01968" y="2926080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Focuses DB queries 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velocity features only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01968" y="3511296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Reads suggested_tools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ordered investigation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01968" y="4096512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Early exit for CLEARED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 DB at all)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27248" y="2926080"/>
            <a:ext cx="210312" cy="0"/>
          </a:xfrm>
          <a:prstGeom prst="line">
            <a:avLst/>
          </a:prstGeom>
          <a:noFill/>
          <a:ln w="31750">
            <a:solidFill>
              <a:srgbClr val="0096C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73368" y="2926080"/>
            <a:ext cx="164592" cy="0"/>
          </a:xfrm>
          <a:prstGeom prst="line">
            <a:avLst/>
          </a:prstGeom>
          <a:noFill/>
          <a:ln w="31750">
            <a:solidFill>
              <a:srgbClr val="00B4A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163824" y="2697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080760" y="2697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34440" cy="292608"/>
          </a:xfrm>
          <a:prstGeom prst="roundRect">
            <a:avLst>
              <a:gd name="adj" fmla="val 37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 Scoring + SHAP Explainability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DB-backed velocity features · Isotonic calibration · Top-5 SHAP tool routing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1A3A6B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276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572768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1A3A6B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6276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572768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1A3A6B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276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1572768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1A3A6B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6276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494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(training)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423160"/>
            <a:ext cx="5029200" cy="2423160"/>
          </a:xfrm>
          <a:prstGeom prst="roundRect">
            <a:avLst>
              <a:gd name="adj" fmla="val 3774"/>
            </a:avLst>
          </a:prstGeom>
          <a:solidFill>
            <a:srgbClr val="1E3A5F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420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TOP-5 EXPLAINABILITY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8895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velocity_1hr_count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08960" y="2935224"/>
            <a:ext cx="1124712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88536" y="288950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+0.24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2735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disposable_email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08960" y="3319272"/>
            <a:ext cx="850392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14216" y="32735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+0.18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657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f_triple_country_mismatch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08960" y="3703320"/>
            <a:ext cx="6583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36576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+0.14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0416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successful_3ds_challenge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08960" y="4087368"/>
            <a:ext cx="466344" cy="2011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40416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−0.10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4256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long_standing_account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08960" y="4471416"/>
            <a:ext cx="713232" cy="2011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77056" y="442569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−0.15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32120" y="2423160"/>
            <a:ext cx="3291840" cy="2423160"/>
          </a:xfrm>
          <a:prstGeom prst="roundRect">
            <a:avLst>
              <a:gd name="adj" fmla="val 3774"/>
            </a:avLst>
          </a:prstGeom>
          <a:solidFill>
            <a:srgbClr val="1E3A5F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25420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 OUTPUT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50992" y="2944368"/>
            <a:ext cx="1463040" cy="3200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50992" y="32918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50992" y="35478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150608" y="2944368"/>
            <a:ext cx="960120" cy="320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0608" y="329184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50608" y="354787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 – 0.60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147304" y="2944368"/>
            <a:ext cx="73152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47304" y="329184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147304" y="35478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– 0.80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915400" y="2944368"/>
            <a:ext cx="59436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15400" y="329184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915400" y="354787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0.80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596128" y="3858768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features now directly route the AI agent to relevant MCP tools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(velocity burst → get_recent_txns + get_device_assoc, etc.)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Risk Engine — Rule Modifiers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final_risk  =  calibrated_ML_probability  +  Σ rule_deltas  (clipped 0.0 – 1.0)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69080" cy="3520440"/>
          </a:xfrm>
          <a:prstGeom prst="roundRect">
            <a:avLst>
              <a:gd name="adj" fmla="val 2597"/>
            </a:avLst>
          </a:prstGeom>
          <a:solidFill>
            <a:srgbClr val="FFF3F3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RISK-INCREASING RULES  (+)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81912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  </a:t>
            </a:r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velocity_burst_5min  </a:t>
            </a:r>
            <a:pPr indent="0" marL="0">
              <a:buNone/>
            </a:pPr>
            <a:r>
              <a:rPr lang="en-US" sz="95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txns in 5 min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+0.25  </a:t>
            </a:r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micro_account_critical_value  </a:t>
            </a:r>
            <a:pPr indent="0" marL="0">
              <a:buNone/>
            </a:pPr>
            <a:r>
              <a:rPr lang="en-US" sz="95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&lt; 10min + amt &gt; 50k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441448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  </a:t>
            </a:r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triple_country_mismatch  </a:t>
            </a:r>
            <a:pPr indent="0" marL="0">
              <a:buNone/>
            </a:pPr>
            <a:r>
              <a:rPr lang="en-US" sz="95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Issuer/IP/merchant differ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871216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  </a:t>
            </a:r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disposable_plus_frictionless  </a:t>
            </a:r>
            <a:pPr indent="0" marL="0">
              <a:buNone/>
            </a:pPr>
            <a:r>
              <a:rPr lang="en-US" sz="95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FIX-4: 3DS bypass pattern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300984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  </a:t>
            </a:r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api_merchant_velocity  </a:t>
            </a:r>
            <a:pPr indent="0" marL="0">
              <a:buNone/>
            </a:pPr>
            <a:r>
              <a:rPr lang="en-US" sz="95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FIX-9: bot at one merchant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  </a:t>
            </a:r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api_channel_new_acct  </a:t>
            </a:r>
            <a:pPr indent="0" marL="0">
              <a:buNone/>
            </a:pPr>
            <a:r>
              <a:rPr lang="en-US" sz="95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acct age &lt; 60 min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  </a:t>
            </a:r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disposable_plus_3ds_fail  </a:t>
            </a:r>
            <a:pPr indent="0" marL="0">
              <a:buNone/>
            </a:pPr>
            <a:r>
              <a:rPr lang="en-US" sz="95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signal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4251960" cy="1508760"/>
          </a:xfrm>
          <a:prstGeom prst="roundRect">
            <a:avLst>
              <a:gd name="adj" fmla="val 6061"/>
            </a:avLst>
          </a:prstGeom>
          <a:solidFill>
            <a:srgbClr val="F0FFF4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07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ADJUSTMENTS  (−)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36592" y="157276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−0.05  </a:t>
            </a:r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long_standing_account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36592" y="19385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−0.04  </a:t>
            </a:r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successful_3ds_challenge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36592" y="23042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−0.03  </a:t>
            </a:r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low_merchant_fraud_rate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788920"/>
            <a:ext cx="4251960" cy="1828800"/>
          </a:xfrm>
          <a:prstGeom prst="roundRect">
            <a:avLst>
              <a:gd name="adj" fmla="val 5000"/>
            </a:avLst>
          </a:prstGeom>
          <a:solidFill>
            <a:srgbClr val="EBF5FB"/>
          </a:solidFill>
          <a:ln w="1905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36592" y="2898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KNOWN-BRAND MERCHANT PROTECTION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36592" y="3246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Tanishq · Titan · Reliance · Tata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36592" y="3575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HDFC · ICICI · SBI · Airtel · Jio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39044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Amazon · Flipkart · Myntra · Swiggy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36592" y="4233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disposition: accept_and_alert (deny blocked unless CRITICAL + confirmed ring)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34440" cy="292608"/>
          </a:xfrm>
          <a:prstGeom prst="roundRect">
            <a:avLst>
              <a:gd name="adj" fmla="val 37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Orchestrator — 4-Band Decision Logic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band maps to a disposition, investigation depth, and outreach target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0C3320"/>
          </a:solidFill>
          <a:ln w="2286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19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1945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" y="259689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0.35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907792"/>
            <a:ext cx="1810512" cy="0"/>
          </a:xfrm>
          <a:prstGeom prst="line">
            <a:avLst/>
          </a:prstGeom>
          <a:noFill/>
          <a:ln w="9525">
            <a:solidFill>
              <a:srgbClr val="2DC6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97180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20040" y="315468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20040" y="3520440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20040" y="370332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required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93192" y="4059936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Auto-approve. No investigation needed. Case note and status update only.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532888" y="1572768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2A2A00"/>
          </a:solidFill>
          <a:ln w="2286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719072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32888" y="21945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532888" y="259689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 – 0.60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670048" y="2907792"/>
            <a:ext cx="1810512" cy="0"/>
          </a:xfrm>
          <a:prstGeom prst="line">
            <a:avLst/>
          </a:prstGeom>
          <a:noFill/>
          <a:ln w="9525">
            <a:solidFill>
              <a:srgbClr val="FFD16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32888" y="297180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2532888" y="315468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accept_1fa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2532888" y="3520440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2532888" y="370332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1FA is the verification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2606040" y="4059936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after OTP / biometric. Profile check + merchant context.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4745736" y="1572768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2A1500"/>
          </a:solidFill>
          <a:ln w="2286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1719072"/>
            <a:ext cx="438912" cy="43891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45736" y="21945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4745736" y="259689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– 0.80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882896" y="2907792"/>
            <a:ext cx="1810512" cy="0"/>
          </a:xfrm>
          <a:prstGeom prst="line">
            <a:avLst/>
          </a:prstGeom>
          <a:noFill/>
          <a:ln w="9525">
            <a:solidFill>
              <a:srgbClr val="F4A261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745736" y="297180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4745736" y="315468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accept_and_alert  or  deny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4745736" y="3520440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700" dirty="0"/>
          </a:p>
        </p:txBody>
      </p:sp>
      <p:sp>
        <p:nvSpPr>
          <p:cNvPr id="34" name="Text 29"/>
          <p:cNvSpPr/>
          <p:nvPr/>
        </p:nvSpPr>
        <p:spPr>
          <a:xfrm>
            <a:off x="4745736" y="370332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if merchant anomaly is primary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4818888" y="4059936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investigates. Merchant trust tier determines final call.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6958584" y="1572768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2A0000"/>
          </a:solidFill>
          <a:ln w="2286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1719072"/>
            <a:ext cx="438912" cy="43891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58584" y="21945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500" dirty="0"/>
          </a:p>
        </p:txBody>
      </p:sp>
      <p:sp>
        <p:nvSpPr>
          <p:cNvPr id="39" name="Text 33"/>
          <p:cNvSpPr/>
          <p:nvPr/>
        </p:nvSpPr>
        <p:spPr>
          <a:xfrm>
            <a:off x="6958584" y="259689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0.80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7095744" y="2907792"/>
            <a:ext cx="1810512" cy="0"/>
          </a:xfrm>
          <a:prstGeom prst="line">
            <a:avLst/>
          </a:prstGeom>
          <a:noFill/>
          <a:ln w="9525">
            <a:solidFill>
              <a:srgbClr val="E63946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958584" y="297180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</a:t>
            </a:r>
            <a:endParaRPr lang="en-US" sz="700" dirty="0"/>
          </a:p>
        </p:txBody>
      </p:sp>
      <p:sp>
        <p:nvSpPr>
          <p:cNvPr id="42" name="Text 36"/>
          <p:cNvSpPr/>
          <p:nvPr/>
        </p:nvSpPr>
        <p:spPr>
          <a:xfrm>
            <a:off x="6958584" y="315468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6958584" y="3520440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700" dirty="0"/>
          </a:p>
        </p:txBody>
      </p:sp>
      <p:sp>
        <p:nvSpPr>
          <p:cNvPr id="44" name="Text 38"/>
          <p:cNvSpPr/>
          <p:nvPr/>
        </p:nvSpPr>
        <p:spPr>
          <a:xfrm>
            <a:off x="6958584" y="370332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if ambiguous; none if confirmed ring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7031736" y="4059936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immediately. Full investigation chain. Known-brand exception applies.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Investigation via 13 MCP Tools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uses stage_1_context.suggested_tools to prioritise investigation — no redundant calls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286000" cy="384048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 w="1905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9385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2359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Context-aware reasoning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11480" y="27614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stage_1_context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1480" y="31638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Orders tools by priority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3566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Device linkage analysis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39684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assembly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43708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Disposition recommendation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87752" y="2926080"/>
            <a:ext cx="320040" cy="0"/>
          </a:xfrm>
          <a:prstGeom prst="line">
            <a:avLst/>
          </a:prstGeom>
          <a:noFill/>
          <a:ln w="31750">
            <a:solidFill>
              <a:srgbClr val="0096C7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999232" y="1005840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1A3A6B"/>
          </a:solidFill>
          <a:ln w="9525">
            <a:solidFill>
              <a:srgbClr val="2A5A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63240" y="106984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63240" y="10698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TRIAGE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3968496" y="1078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flag_transaction()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999232" y="1527048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0A4A6B"/>
          </a:solidFill>
          <a:ln w="9525">
            <a:solidFill>
              <a:srgbClr val="2A5A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63240" y="159105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63240" y="1591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CORE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968496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score_transaction()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999232" y="2048256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074A5A"/>
          </a:solidFill>
          <a:ln w="9525">
            <a:solidFill>
              <a:srgbClr val="2A5A8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63240" y="2112264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63240" y="21122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INTEL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3968496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get_customer_profile()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999232" y="2569464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064252"/>
          </a:solidFill>
          <a:ln w="9525">
            <a:solidFill>
              <a:srgbClr val="2A5A8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063240" y="2633472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63240" y="26334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INTEL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968496" y="2642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get_recent_txns()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999232" y="3090672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053A47"/>
          </a:solidFill>
          <a:ln w="9525">
            <a:solidFill>
              <a:srgbClr val="2A5A8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063240" y="31546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063240" y="31546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INTEL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3968496" y="31638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get_device_assoc()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999232" y="3611880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04323D"/>
          </a:solidFill>
          <a:ln w="9525">
            <a:solidFill>
              <a:srgbClr val="2A5A8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063240" y="367588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063240" y="3675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INTEL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3968496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get_linked_accounts()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999232" y="4133088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0A4A38"/>
          </a:solidFill>
          <a:ln w="9525">
            <a:solidFill>
              <a:srgbClr val="2A5A8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063240" y="419709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063240" y="419709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ALWAYS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3968496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get_merchant_onboarding()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989320" y="1005840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0C4A28"/>
          </a:solidFill>
          <a:ln w="9525">
            <a:solidFill>
              <a:srgbClr val="2A5A8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53328" y="106984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053328" y="10698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COND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6958584" y="1078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get_merchant_risk()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989320" y="1527048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3A2A0A"/>
          </a:solidFill>
          <a:ln w="9525">
            <a:solidFill>
              <a:srgbClr val="2A5A8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053328" y="159105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053328" y="1591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INTEL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6958584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get_ip_intelligence()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989320" y="2048256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3A1A0A"/>
          </a:solidFill>
          <a:ln w="9525">
            <a:solidFill>
              <a:srgbClr val="2A5A8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53328" y="2112264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053328" y="21122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HIST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6958584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get_similar_fraud_cases()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5989320" y="2569464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2A0A0A"/>
          </a:solidFill>
          <a:ln w="9525">
            <a:solidFill>
              <a:srgbClr val="2A5A8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053328" y="2633472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053328" y="26334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MANDATORY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6958584" y="2642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add_case_note()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989320" y="3090672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1A0808"/>
          </a:solidFill>
          <a:ln w="9525">
            <a:solidFill>
              <a:srgbClr val="2A5A8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053328" y="31546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053328" y="31546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MANDATORY</a:t>
            </a:r>
            <a:endParaRPr lang="en-US" sz="650" dirty="0"/>
          </a:p>
        </p:txBody>
      </p:sp>
      <p:sp>
        <p:nvSpPr>
          <p:cNvPr id="61" name="Text 58"/>
          <p:cNvSpPr/>
          <p:nvPr/>
        </p:nvSpPr>
        <p:spPr>
          <a:xfrm>
            <a:off x="6958584" y="31638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update_case_status()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5989320" y="3611880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2A1A35"/>
          </a:solidFill>
          <a:ln w="9525">
            <a:solidFill>
              <a:srgbClr val="2A5A8A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053328" y="367588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053328" y="3675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FEEDBACK</a:t>
            </a:r>
            <a:endParaRPr lang="en-US" sz="650" dirty="0"/>
          </a:p>
        </p:txBody>
      </p:sp>
      <p:sp>
        <p:nvSpPr>
          <p:cNvPr id="65" name="Text 62"/>
          <p:cNvSpPr/>
          <p:nvPr/>
        </p:nvSpPr>
        <p:spPr>
          <a:xfrm>
            <a:off x="6958584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submit_false_positive()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34440" cy="292608"/>
          </a:xfrm>
          <a:prstGeom prst="roundRect">
            <a:avLst>
              <a:gd name="adj" fmla="val 37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OUTPUT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Narrative &amp; Disposition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synthesises all tool outputs into a structured verdict before calling add_case_note + update_case_status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0A1428"/>
          </a:solidFill>
          <a:ln w="1905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733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CASE NARRATIVE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#FRM-20240312-0087  |  CRITICAL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Rs.4,82,000 flagged at 03:14 UTC.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 Flags Fired: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f_triple_country_mismatch  • f_disposable_email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f_frictionless_suspicious (3DS bypass)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Investigation: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Device linked to 3 prior fraud accounts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velocity_1hr spike: 7 transactions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IP from known datacenter (CIDR fallback match)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Merchant: first-time, unknown trust tier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 Top Driver: velocity_1hr_count (+0.24)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RECOMMENDATION: Confirm Fraud — Block &amp;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escalate for chargeback review.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623560" y="155448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1810512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55080" y="16642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Fraud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55080" y="202996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file case,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review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23560" y="26517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907792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55080" y="27614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355080" y="31272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Release, update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model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623560" y="374904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4005072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8587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55080" y="42245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analyst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623560" y="4709160"/>
            <a:ext cx="3200400" cy="256032"/>
          </a:xfrm>
          <a:prstGeom prst="roundRect">
            <a:avLst>
              <a:gd name="adj" fmla="val 21429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623560" y="47091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 written for all decisions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&amp; Continuous Improvement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745690" y="923590"/>
            <a:ext cx="1280160" cy="1280160"/>
          </a:xfrm>
          <a:prstGeom prst="ellipse">
            <a:avLst/>
          </a:prstGeom>
          <a:solidFill>
            <a:srgbClr val="1A3A6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7170" y="106075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5690" y="158195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791410" y="9693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45690" y="2734010"/>
            <a:ext cx="1280160" cy="1280160"/>
          </a:xfrm>
          <a:prstGeom prst="ellipse">
            <a:avLst/>
          </a:prstGeom>
          <a:solidFill>
            <a:srgbClr val="0072A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170" y="287117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45690" y="339237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791410" y="277973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935270" y="2734010"/>
            <a:ext cx="1280160" cy="1280160"/>
          </a:xfrm>
          <a:prstGeom prst="ellipse">
            <a:avLst/>
          </a:prstGeom>
          <a:solidFill>
            <a:srgbClr val="007A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50" y="287117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35270" y="339237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2980990" y="277973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935270" y="923590"/>
            <a:ext cx="1280160" cy="1280160"/>
          </a:xfrm>
          <a:prstGeom prst="ellipse">
            <a:avLst/>
          </a:prstGeom>
          <a:solidFill>
            <a:srgbClr val="2A8A6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50" y="106075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935270" y="158195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+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2980990" y="9693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3886200" y="2057400"/>
            <a:ext cx="1188720" cy="822960"/>
          </a:xfrm>
          <a:prstGeom prst="ellipse">
            <a:avLst/>
          </a:prstGeom>
          <a:solidFill>
            <a:srgbClr val="0F1B2D"/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886200" y="2084832"/>
            <a:ext cx="1188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750" dirty="0"/>
          </a:p>
        </p:txBody>
      </p:sp>
      <p:sp>
        <p:nvSpPr>
          <p:cNvPr id="21" name="Shape 15"/>
          <p:cNvSpPr/>
          <p:nvPr/>
        </p:nvSpPr>
        <p:spPr>
          <a:xfrm>
            <a:off x="6492240" y="10058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BF4FF"/>
          </a:solidFill>
          <a:ln w="12700">
            <a:solidFill>
              <a:srgbClr val="B0C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629400" y="1069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629400" y="135331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decisions → labelled data → XGBoost retrain on new fraud patterns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6492240" y="201168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BF4FF"/>
          </a:solidFill>
          <a:ln w="12700">
            <a:solidFill>
              <a:srgbClr val="B0C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629400" y="2075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629400" y="235915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 cutoffs adjusted via precision/recall feedback from feedback_log table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6492240" y="30175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BF4FF"/>
          </a:solidFill>
          <a:ln w="12700">
            <a:solidFill>
              <a:srgbClr val="B0C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6629400" y="3081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Refinement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629400" y="336499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get_rule_effectiveness() identifies high-FP rules for delta reduction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6492240" y="40233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BF4FF"/>
          </a:solidFill>
          <a:ln w="12700">
            <a:solidFill>
              <a:srgbClr val="B0C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6629400" y="40873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Feedback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629400" y="437083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submit_false_positive_feedback() validates rule_triggered against KNOWN_RULE_NAMES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7432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Summary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98448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Fraud Risk Management — Full Updated Pipeline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170432"/>
            <a:ext cx="8458200" cy="457200"/>
          </a:xfrm>
          <a:prstGeom prst="roundRect">
            <a:avLst>
              <a:gd name="adj" fmla="val 14000"/>
            </a:avLst>
          </a:prstGeom>
          <a:solidFill>
            <a:srgbClr val="1E3A5F"/>
          </a:solidFill>
          <a:ln w="6350">
            <a:solidFill>
              <a:srgbClr val="2A5A8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43584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225296"/>
            <a:ext cx="7726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+ Feature Engineering — 56 signals across velocity, device, email, geo &amp; transaction attributes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65760" y="1719072"/>
            <a:ext cx="8458200" cy="457200"/>
          </a:xfrm>
          <a:prstGeom prst="roundRect">
            <a:avLst>
              <a:gd name="adj" fmla="val 14000"/>
            </a:avLst>
          </a:prstGeom>
          <a:solidFill>
            <a:srgbClr val="1A3A6B"/>
          </a:solidFill>
          <a:ln w="6350">
            <a:solidFill>
              <a:srgbClr val="2A5A8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9222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1773936"/>
            <a:ext cx="7726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Triage Gate — zero-DB XGBoost + rule engine, produces structured stage_1_context JSON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65760" y="2267712"/>
            <a:ext cx="8458200" cy="457200"/>
          </a:xfrm>
          <a:prstGeom prst="roundRect">
            <a:avLst>
              <a:gd name="adj" fmla="val 14000"/>
            </a:avLst>
          </a:prstGeom>
          <a:solidFill>
            <a:srgbClr val="1E3A5F"/>
          </a:solidFill>
          <a:ln w="6350">
            <a:solidFill>
              <a:srgbClr val="2A5A8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34086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2322576"/>
            <a:ext cx="7726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Full Scoring — DB-backed velocity, SHAP top-5, SHAP-to-tool mapping, early exit for CLEARED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365760" y="2816352"/>
            <a:ext cx="8458200" cy="457200"/>
          </a:xfrm>
          <a:prstGeom prst="roundRect">
            <a:avLst>
              <a:gd name="adj" fmla="val 14000"/>
            </a:avLst>
          </a:prstGeom>
          <a:solidFill>
            <a:srgbClr val="1A3A6B"/>
          </a:solidFill>
          <a:ln w="6350">
            <a:solidFill>
              <a:srgbClr val="2A5A8A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889504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2871216"/>
            <a:ext cx="7726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Risk Engine — 19 rules, isotonic calibration, merchant trust tiers, known-brand protection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365760" y="3364992"/>
            <a:ext cx="8458200" cy="457200"/>
          </a:xfrm>
          <a:prstGeom prst="roundRect">
            <a:avLst>
              <a:gd name="adj" fmla="val 14000"/>
            </a:avLst>
          </a:prstGeom>
          <a:solidFill>
            <a:srgbClr val="1E3A5F"/>
          </a:solidFill>
          <a:ln w="6350">
            <a:solidFill>
              <a:srgbClr val="2A5A8A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438144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14400" y="3419856"/>
            <a:ext cx="7726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4-Band Decision Orchestration — accept / accept_1fa / accept_and_alert / deny with outreach logic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365760" y="3913632"/>
            <a:ext cx="8458200" cy="457200"/>
          </a:xfrm>
          <a:prstGeom prst="roundRect">
            <a:avLst>
              <a:gd name="adj" fmla="val 14000"/>
            </a:avLst>
          </a:prstGeom>
          <a:solidFill>
            <a:srgbClr val="1A3A6B"/>
          </a:solidFill>
          <a:ln w="6350">
            <a:solidFill>
              <a:srgbClr val="2A5A8A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986784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14400" y="3968496"/>
            <a:ext cx="7726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via 13 MCP Tools — ordered by stage_1_context.suggested_tools for smarter investigation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365760" y="4462272"/>
            <a:ext cx="8458200" cy="457200"/>
          </a:xfrm>
          <a:prstGeom prst="roundRect">
            <a:avLst>
              <a:gd name="adj" fmla="val 14000"/>
            </a:avLst>
          </a:prstGeom>
          <a:solidFill>
            <a:srgbClr val="1E3A5F"/>
          </a:solidFill>
          <a:ln w="6350">
            <a:solidFill>
              <a:srgbClr val="2A5A8A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4535424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14400" y="4517136"/>
            <a:ext cx="7726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Feedback Loop — false positive feedback, rule effectiveness tracking, model retraining pipeline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5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PayU  ·  Fraud Risk Management  ·  2026  ·  Questions &amp; Discussion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PayU Agentic FRM — Complete Workflow</dc:title>
  <dc:subject>PptxGenJS Presentation</dc:subject>
  <dc:creator>PptxGenJS</dc:creator>
  <cp:lastModifiedBy>PptxGenJS</cp:lastModifiedBy>
  <cp:revision>1</cp:revision>
  <dcterms:created xsi:type="dcterms:W3CDTF">2026-04-24T05:20:13Z</dcterms:created>
  <dcterms:modified xsi:type="dcterms:W3CDTF">2026-04-24T05:20:13Z</dcterms:modified>
</cp:coreProperties>
</file>